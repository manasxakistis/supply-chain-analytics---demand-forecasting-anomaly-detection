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754880"/>
            <a:ext cx="2743200" cy="27432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Analytics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&amp; Anomaly Detection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0" cy="0"/>
          </a:xfrm>
          <a:prstGeom prst="line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C9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PROGRESS REVIEW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966960" y="5257800"/>
            <a:ext cx="1234440" cy="1234440"/>
          </a:xfrm>
          <a:prstGeom prst="ellipse">
            <a:avLst/>
          </a:prstGeom>
          <a:solidFill>
            <a:srgbClr val="263080"/>
          </a:solidFill>
          <a:ln/>
        </p:spPr>
      </p:sp>
      <p:pic>
        <p:nvPicPr>
          <p:cNvPr id="11" name="Image 0" descr="icon_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914" y="5578754"/>
            <a:ext cx="592531" cy="592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60220" y="2011680"/>
            <a:ext cx="1005840" cy="10058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icon_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1738" y="227319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384048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inventory levels to avoid stockouts or overstocking.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09260" y="2011680"/>
            <a:ext cx="1005840" cy="100584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10" name="Image 1" descr="icon_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778" y="2273198"/>
            <a:ext cx="482803" cy="482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617720" y="384048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like viral demand spikes or supplier delays often go unnoticed until financial damage occurs.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46720" y="155448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B1F3B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258300" y="2011680"/>
            <a:ext cx="1005840" cy="1005840"/>
          </a:xfrm>
          <a:prstGeom prst="ellipse">
            <a:avLst/>
          </a:prstGeom>
          <a:solidFill>
            <a:srgbClr val="1E7145"/>
          </a:solidFill>
          <a:ln/>
        </p:spPr>
      </p:sp>
      <p:pic>
        <p:nvPicPr>
          <p:cNvPr id="15" name="Image 2" descr="icon_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9818" y="2273198"/>
            <a:ext cx="482803" cy="4828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E7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66760" y="384048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pipeline that forecasts demand and detects anomalies early.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 &amp; KPIs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931920" cy="429768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965960" y="1920240"/>
            <a:ext cx="1097280" cy="1097280"/>
          </a:xfrm>
          <a:prstGeom prst="ellipse">
            <a:avLst/>
          </a:prstGeom>
          <a:solidFill>
            <a:srgbClr val="3546A0"/>
          </a:solidFill>
          <a:ln/>
        </p:spPr>
      </p:sp>
      <p:pic>
        <p:nvPicPr>
          <p:cNvPr id="5" name="Image 0" descr="icon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1253" y="220553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46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36576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inventory levels across the network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4709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carrying cost and lost sales simultaneously by keeping stock aligned with real demand signals.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00600" y="1508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00600" y="1965960"/>
            <a:ext cx="6766560" cy="18288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5166360" y="2331720"/>
            <a:ext cx="1051560" cy="105156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12" name="Image 1" descr="icon_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766" y="2605126"/>
            <a:ext cx="504749" cy="5047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Accuracy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92240" y="2606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MAPE (Mean Absolute % Error) and RMSE (Root Mean Squared Error) so demand plans are trustworthy.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4800600" y="3977640"/>
            <a:ext cx="6766560" cy="1828800"/>
          </a:xfrm>
          <a:prstGeom prst="roundRect">
            <a:avLst>
              <a:gd name="adj" fmla="val 5000"/>
            </a:avLst>
          </a:prstGeom>
          <a:solidFill>
            <a:srgbClr val="F4F6FC"/>
          </a:solidFill>
          <a:ln/>
        </p:spPr>
      </p:sp>
      <p:sp>
        <p:nvSpPr>
          <p:cNvPr id="16" name="Shape 12"/>
          <p:cNvSpPr/>
          <p:nvPr/>
        </p:nvSpPr>
        <p:spPr>
          <a:xfrm>
            <a:off x="5166360" y="4343400"/>
            <a:ext cx="1051560" cy="1051560"/>
          </a:xfrm>
          <a:prstGeom prst="ellipse">
            <a:avLst/>
          </a:prstGeom>
          <a:solidFill>
            <a:srgbClr val="1E7145"/>
          </a:solidFill>
          <a:ln/>
        </p:spPr>
      </p:sp>
      <p:pic>
        <p:nvPicPr>
          <p:cNvPr id="17" name="Image 2" descr="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766" y="4616806"/>
            <a:ext cx="504749" cy="5047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Quality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92240" y="46177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precision with low false positives, so alerts stay credible instead of inducing alert fatigue.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Focus: Statistical Anomaly Detection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identify unusual deviations in sales and inventory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1680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 Analysis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extreme deviations from the mean.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965960"/>
            <a:ext cx="777240" cy="77724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11" name="Image 1" descr="icon_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082" y="21680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8803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Interquartile Range (IQR)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72000" y="342900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outliers beyond the Q1–Q3 thresholds.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4F6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965960"/>
            <a:ext cx="777240" cy="777240"/>
          </a:xfrm>
          <a:prstGeom prst="ellipse">
            <a:avLst/>
          </a:prstGeom>
          <a:solidFill>
            <a:srgbClr val="1E7145"/>
          </a:solidFill>
          <a:ln/>
        </p:spPr>
      </p:sp>
      <p:pic>
        <p:nvPicPr>
          <p:cNvPr id="16" name="Image 2" descr="icon_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216804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8803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21040" y="342900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approach for rare-event detection.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4846320"/>
            <a:ext cx="777240" cy="777240"/>
          </a:xfrm>
          <a:prstGeom prst="ellipse">
            <a:avLst/>
          </a:prstGeom>
          <a:solidFill>
            <a:srgbClr val="3546A0"/>
          </a:solidFill>
          <a:ln/>
        </p:spPr>
      </p:sp>
      <p:pic>
        <p:nvPicPr>
          <p:cNvPr id="21" name="Image 3" descr="icon_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" y="504840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20240" y="47548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CONTEXTUALIZATION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920240" y="5093208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Holidays, promotions, and stockouts are tagged in the data to reduce false alarms and keep the model context-aware.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914400" cy="914400"/>
          </a:xfrm>
          <a:prstGeom prst="ellipse">
            <a:avLst/>
          </a:prstGeom>
          <a:solidFill>
            <a:srgbClr val="3D5AFE"/>
          </a:solidFill>
          <a:ln/>
        </p:spPr>
      </p:sp>
      <p:pic>
        <p:nvPicPr>
          <p:cNvPr id="5" name="Image 0" descr="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157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057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60120" y="3227832"/>
            <a:ext cx="128016" cy="12801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30175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Resampled daily data into weekly / monthly aggregates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60120" y="4187952"/>
            <a:ext cx="128016" cy="128016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97764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 via interpolation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920240"/>
            <a:ext cx="914400" cy="914400"/>
          </a:xfrm>
          <a:prstGeom prst="ellipse">
            <a:avLst/>
          </a:prstGeom>
          <a:solidFill>
            <a:srgbClr val="3546A0"/>
          </a:solidFill>
          <a:ln/>
        </p:spPr>
      </p:sp>
      <p:pic>
        <p:nvPicPr>
          <p:cNvPr id="13" name="Image 1" descr="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1579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2057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Strategy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6675120" y="322783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2"/>
          <p:cNvSpPr/>
          <p:nvPr/>
        </p:nvSpPr>
        <p:spPr>
          <a:xfrm>
            <a:off x="6949440" y="301752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approach: statistical + ML-based methods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675120" y="4187952"/>
            <a:ext cx="128016" cy="1280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4"/>
          <p:cNvSpPr/>
          <p:nvPr/>
        </p:nvSpPr>
        <p:spPr>
          <a:xfrm>
            <a:off x="6949440" y="397764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alerts using holiday calendar and supplier logs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34440" y="2148840"/>
            <a:ext cx="0" cy="3291840"/>
          </a:xfrm>
          <a:prstGeom prst="line">
            <a:avLst/>
          </a:prstGeom>
          <a:noFill/>
          <a:ln w="25400">
            <a:solidFill>
              <a:srgbClr val="D9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920240" y="1691640"/>
            <a:ext cx="9144000" cy="9144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69164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anomaly detection module into the pipeline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822960" cy="8229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3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920240" y="2788920"/>
            <a:ext cx="9144000" cy="9144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2788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anomalies with contextual metadata (holiday, stockout, supplier delay)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31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920240" y="3886200"/>
            <a:ext cx="9144000" cy="9144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38862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anomalies in a Streamlit dashboard alongside demand forecasts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822960" cy="8229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29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920240" y="4983480"/>
            <a:ext cx="9144000" cy="9144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0" y="49834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system against historical anomalies, e.g. sudden demand spikes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Early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920240"/>
            <a:ext cx="914400" cy="91440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5" name="Image 0" descr="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157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2057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Found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960120" y="3227832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30175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spikes around festivals and holidays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60120" y="4187952"/>
            <a:ext cx="128016" cy="128016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7"/>
          <p:cNvSpPr/>
          <p:nvPr/>
        </p:nvSpPr>
        <p:spPr>
          <a:xfrm>
            <a:off x="1234440" y="397764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drops linked to supplier delays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1920240"/>
            <a:ext cx="914400" cy="914400"/>
          </a:xfrm>
          <a:prstGeom prst="ellipse">
            <a:avLst/>
          </a:prstGeom>
          <a:solidFill>
            <a:srgbClr val="3546A0"/>
          </a:solidFill>
          <a:ln/>
        </p:spPr>
      </p:sp>
      <p:pic>
        <p:nvPicPr>
          <p:cNvPr id="13" name="Image 1" descr="icon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1579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0" y="20574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Value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6720840" y="30632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Managers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720840" y="33832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procurement schedules proactively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720840" y="40233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Analysts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720840" y="43434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flagged anomalies quickly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Weeks 3–4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0312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3D5AF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Model Development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65760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657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365760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3657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365760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D9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3657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44348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comparing statistical and deep-learning forecast models.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103120"/>
            <a:ext cx="1554480" cy="502920"/>
          </a:xfrm>
          <a:prstGeom prst="roundRect">
            <a:avLst>
              <a:gd name="adj" fmla="val 49091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03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8346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Streamlit Application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0" y="3657600"/>
            <a:ext cx="777240" cy="777240"/>
          </a:xfrm>
          <a:prstGeom prst="ellipse">
            <a:avLst/>
          </a:prstGeom>
          <a:solidFill>
            <a:srgbClr val="3546A0"/>
          </a:solidFill>
          <a:ln/>
        </p:spPr>
      </p:sp>
      <p:pic>
        <p:nvPicPr>
          <p:cNvPr id="19" name="Image 0" descr="icon_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5762" y="3859682"/>
            <a:ext cx="373075" cy="37307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543800" y="37033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forecast + anomaly visualization, deployed for stakeholder self-service.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572000" cy="45720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868680" cy="868680"/>
          </a:xfrm>
          <a:prstGeom prst="ellipse">
            <a:avLst/>
          </a:prstGeom>
          <a:solidFill>
            <a:srgbClr val="3546A0"/>
          </a:solidFill>
          <a:ln/>
        </p:spPr>
      </p:sp>
      <p:pic>
        <p:nvPicPr>
          <p:cNvPr id="5" name="Image 0" descr="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21460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874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920240" y="219456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anomaly detection reduces financial risk.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337560"/>
            <a:ext cx="868680" cy="868680"/>
          </a:xfrm>
          <a:prstGeom prst="ellipse">
            <a:avLst/>
          </a:prstGeom>
          <a:solidFill>
            <a:srgbClr val="3546A0"/>
          </a:solidFill>
          <a:ln/>
        </p:spPr>
      </p:sp>
      <p:pic>
        <p:nvPicPr>
          <p:cNvPr id="9" name="Image 1" descr="icon_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17" y="356341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2024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920240" y="361188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procurement, fewer stockouts, optimized inventory.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22960" y="4754880"/>
            <a:ext cx="868680" cy="868680"/>
          </a:xfrm>
          <a:prstGeom prst="ellipse">
            <a:avLst/>
          </a:prstGeom>
          <a:solidFill>
            <a:srgbClr val="3546A0"/>
          </a:solidFill>
          <a:ln/>
        </p:spPr>
      </p:sp>
      <p:pic>
        <p:nvPicPr>
          <p:cNvPr id="13" name="Image 2" descr="icon_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17" y="498073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2024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920240" y="502920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analytics dashboard for proactive supply chain management.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2026-07-20T16:34:17Z</dcterms:created>
  <dcterms:modified xsi:type="dcterms:W3CDTF">2026-07-20T16:34:17Z</dcterms:modified>
</cp:coreProperties>
</file>